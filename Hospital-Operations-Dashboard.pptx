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9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0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Patients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B2E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Elective</c:v>
                  </c:pt>
                  <c:pt idx="1">
                    <c:v>Urgent</c:v>
                  </c:pt>
                  <c:pt idx="2">
                    <c:v>Emergency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18655</c:v>
                </c:pt>
                <c:pt idx="1">
                  <c:v>18576</c:v>
                </c:pt>
                <c:pt idx="2">
                  <c:v>18269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B2E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CEDEB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B2E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Patients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B2E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A89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A89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0A89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0A896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B9D8D6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2019</c:v>
                  </c:pt>
                  <c:pt idx="1">
                    <c:v>2020</c:v>
                  </c:pt>
                  <c:pt idx="2">
                    <c:v>2021</c:v>
                  </c:pt>
                  <c:pt idx="3">
                    <c:v>2022</c:v>
                  </c:pt>
                  <c:pt idx="4">
                    <c:v>2023</c:v>
                  </c:pt>
                  <c:pt idx="5">
                    <c:v>2024*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7387</c:v>
                </c:pt>
                <c:pt idx="1">
                  <c:v>11285</c:v>
                </c:pt>
                <c:pt idx="2">
                  <c:v>10931</c:v>
                </c:pt>
                <c:pt idx="3">
                  <c:v>11017</c:v>
                </c:pt>
                <c:pt idx="4">
                  <c:v>11026</c:v>
                </c:pt>
                <c:pt idx="5">
                  <c:v>3854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B2E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CEDEB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B2E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Patients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B2E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B9D8D6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Houston
Methodist</c:v>
                  </c:pt>
                  <c:pt idx="1">
                    <c:v>Johns
Hopkins</c:v>
                  </c:pt>
                  <c:pt idx="2">
                    <c:v>UCLA Medical
Center</c:v>
                  </c:pt>
                  <c:pt idx="3">
                    <c:v>All Other
Hospitals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36.8</c:v>
                </c:pt>
                <c:pt idx="1">
                  <c:v>20.3</c:v>
                </c:pt>
                <c:pt idx="2">
                  <c:v>12.3</c:v>
                </c:pt>
                <c:pt idx="3">
                  <c:v>30.6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0B2E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CEDEB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0B2E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Patients</c:v>
                </c:pt>
              </c:strCache>
            </c:strRef>
          </c:tx>
          <c:spPr>
            <a:solidFill>
              <a:srgbClr val="00A89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E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10-19</c:v>
                  </c:pt>
                  <c:pt idx="1">
                    <c:v>20-29</c:v>
                  </c:pt>
                  <c:pt idx="2">
                    <c:v>30-39</c:v>
                  </c:pt>
                  <c:pt idx="3">
                    <c:v>40-49</c:v>
                  </c:pt>
                  <c:pt idx="4">
                    <c:v>50-59</c:v>
                  </c:pt>
                  <c:pt idx="5">
                    <c:v>60-69</c:v>
                  </c:pt>
                  <c:pt idx="6">
                    <c:v>70-79</c:v>
                  </c:pt>
                  <c:pt idx="7">
                    <c:v>80-89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1693</c:v>
                </c:pt>
                <c:pt idx="1">
                  <c:v>8000</c:v>
                </c:pt>
                <c:pt idx="2">
                  <c:v>8179</c:v>
                </c:pt>
                <c:pt idx="3">
                  <c:v>8130</c:v>
                </c:pt>
                <c:pt idx="4">
                  <c:v>8350</c:v>
                </c:pt>
                <c:pt idx="5">
                  <c:v>8177</c:v>
                </c:pt>
                <c:pt idx="6">
                  <c:v>8072</c:v>
                </c:pt>
                <c:pt idx="7">
                  <c:v>4899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B2E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CEDEB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B2E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Test Results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28090"/>
              </a:solidFill>
              <a:effectLst/>
            </c:spPr>
          </c:dPt>
          <c:dPt>
            <c:idx val="1"/>
            <c:bubble3D val="0"/>
            <c:spPr>
              <a:solidFill>
                <a:srgbClr val="02C39A"/>
              </a:solidFill>
              <a:effectLst/>
            </c:spPr>
          </c:dPt>
          <c:dPt>
            <c:idx val="2"/>
            <c:bubble3D val="0"/>
            <c:spPr>
              <a:solidFill>
                <a:srgbClr val="B9D8D6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Abnormal</c:v>
                </c:pt>
                <c:pt idx="1">
                  <c:v>Inconclusive</c:v>
                </c:pt>
                <c:pt idx="2">
                  <c:v>Normal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30525</c:v>
                </c:pt>
                <c:pt idx="1">
                  <c:v>19425</c:v>
                </c:pt>
                <c:pt idx="2">
                  <c:v>5550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0B2E33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Prescriptions</c:v>
                </c:pt>
              </c:strCache>
            </c:strRef>
          </c:tx>
          <c:spPr>
            <a:solidFill>
              <a:srgbClr val="00A89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0B2E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Lipitor</c:v>
                  </c:pt>
                  <c:pt idx="1">
                    <c:v>Ibuprofen</c:v>
                  </c:pt>
                  <c:pt idx="2">
                    <c:v>Aspirin</c:v>
                  </c:pt>
                  <c:pt idx="3">
                    <c:v>Paracetamol</c:v>
                  </c:pt>
                  <c:pt idx="4">
                    <c:v>Penicillin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11140</c:v>
                </c:pt>
                <c:pt idx="1">
                  <c:v>11127</c:v>
                </c:pt>
                <c:pt idx="2">
                  <c:v>11094</c:v>
                </c:pt>
                <c:pt idx="3">
                  <c:v>11071</c:v>
                </c:pt>
                <c:pt idx="4">
                  <c:v>11068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50" u="none">
                  <a:solidFill>
                    <a:srgbClr val="0B2E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CEDEB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0B2E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300"/>
          <c:min val="1080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Billing ($)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B2E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Elective</c:v>
                  </c:pt>
                  <c:pt idx="1">
                    <c:v>Emergency</c:v>
                  </c:pt>
                  <c:pt idx="2">
                    <c:v>Urgent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25602</c:v>
                </c:pt>
                <c:pt idx="1">
                  <c:v>25497</c:v>
                </c:pt>
                <c:pt idx="2">
                  <c:v>25517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B2E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CEDEB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0B2E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5800"/>
          <c:min val="2500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LOS</c:v>
                </c:pt>
              </c:strCache>
            </c:strRef>
          </c:tx>
          <c:spPr>
            <a:solidFill>
              <a:srgbClr val="00A896"/>
            </a:solidFill>
            <a:effectLst/>
          </c:spPr>
          <c:invertIfNegative val="0"/>
          <c:dLbls>
            <c:numFmt formatCode="0.0&quot; d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B2E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Emergency</c:v>
                  </c:pt>
                  <c:pt idx="1">
                    <c:v>Elective</c:v>
                  </c:pt>
                  <c:pt idx="2">
                    <c:v>Urgent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15.6</c:v>
                </c:pt>
                <c:pt idx="1">
                  <c:v>15.5</c:v>
                </c:pt>
                <c:pt idx="2">
                  <c:v>15.4</c:v>
                </c:pt>
              </c:numCache>
            </c:numRef>
          </c:val>
        </c:ser>
        <c:dLbls>
          <c:numFmt formatCode="0.0&quot; d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0B2E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CEDEB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0B2E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6"/>
          <c:min val="15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Billing by Payer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28090"/>
              </a:solidFill>
              <a:effectLst/>
            </c:spPr>
          </c:dPt>
          <c:dPt>
            <c:idx val="1"/>
            <c:bubble3D val="0"/>
            <c:spPr>
              <a:solidFill>
                <a:srgbClr val="00A896"/>
              </a:solidFill>
              <a:effectLst/>
            </c:spPr>
          </c:dPt>
          <c:dPt>
            <c:idx val="2"/>
            <c:bubble3D val="0"/>
            <c:spPr>
              <a:solidFill>
                <a:srgbClr val="02C39A"/>
              </a:solidFill>
              <a:effectLst/>
            </c:spPr>
          </c:dPt>
          <c:dPt>
            <c:idx val="3"/>
            <c:bubble3D val="0"/>
            <c:spPr>
              <a:solidFill>
                <a:srgbClr val="B9D8D6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Medicare</c:v>
                </c:pt>
                <c:pt idx="1">
                  <c:v>UnitedHealthCare</c:v>
                </c:pt>
                <c:pt idx="2">
                  <c:v>Cigna</c:v>
                </c:pt>
                <c:pt idx="3">
                  <c:v>Aetna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707.47</c:v>
                </c:pt>
                <c:pt idx="1">
                  <c:v>426.05</c:v>
                </c:pt>
                <c:pt idx="2">
                  <c:v>142.79</c:v>
                </c:pt>
                <c:pt idx="3">
                  <c:v>141.12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0B2E33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Patients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0B2E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Michael Smith</c:v>
                  </c:pt>
                  <c:pt idx="1">
                    <c:v>Robert Smith</c:v>
                  </c:pt>
                  <c:pt idx="2">
                    <c:v>John Smith</c:v>
                  </c:pt>
                  <c:pt idx="3">
                    <c:v>James Smith</c:v>
                  </c:pt>
                  <c:pt idx="4">
                    <c:v>Michael Johnson</c:v>
                  </c:pt>
                  <c:pt idx="5">
                    <c:v>Robert Johnson</c:v>
                  </c:pt>
                  <c:pt idx="6">
                    <c:v>David Smith</c:v>
                  </c:pt>
                  <c:pt idx="7">
                    <c:v>Michael Williams</c:v>
                  </c:pt>
                  <c:pt idx="8">
                    <c:v>John Johnson</c:v>
                  </c:pt>
                  <c:pt idx="9">
                    <c:v>Christopher Smith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27</c:v>
                </c:pt>
                <c:pt idx="1">
                  <c:v>22</c:v>
                </c:pt>
                <c:pt idx="2">
                  <c:v>22</c:v>
                </c:pt>
                <c:pt idx="3">
                  <c:v>20</c:v>
                </c:pt>
                <c:pt idx="4">
                  <c:v>20</c:v>
                </c:pt>
                <c:pt idx="5">
                  <c:v>19</c:v>
                </c:pt>
                <c:pt idx="6">
                  <c:v>19</c:v>
                </c:pt>
                <c:pt idx="7">
                  <c:v>18</c:v>
                </c:pt>
                <c:pt idx="8">
                  <c:v>17</c:v>
                </c:pt>
                <c:pt idx="9">
                  <c:v>17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50" u="none">
                  <a:solidFill>
                    <a:srgbClr val="0B2E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DCEDEB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0B2E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chart" Target="/ppt/charts/chart8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028090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4206240"/>
            <a:ext cx="4754880" cy="4754880"/>
          </a:xfrm>
          <a:prstGeom prst="ellipse">
            <a:avLst/>
          </a:prstGeom>
          <a:solidFill>
            <a:srgbClr val="00A896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65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GENERAL HOSPITAL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2331720"/>
            <a:ext cx="102412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Hospital Operations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 Dashboard</a:t>
            </a:r>
            <a:endParaRPr lang="en-US" sz="4600" dirty="0"/>
          </a:p>
        </p:txBody>
      </p:sp>
      <p:sp>
        <p:nvSpPr>
          <p:cNvPr id="6" name="Shape 4"/>
          <p:cNvSpPr/>
          <p:nvPr/>
        </p:nvSpPr>
        <p:spPr>
          <a:xfrm>
            <a:off x="822960" y="4617720"/>
            <a:ext cx="1280160" cy="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846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Ogaba Faina Ogenyi</a:t>
            </a:r>
            <a:pPr indent="0" marL="0">
              <a:buNone/>
            </a:pPr>
            <a:r>
              <a:rPr lang="en-US" sz="1500" dirty="0">
                <a:solidFill>
                  <a:srgbClr val="CF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Data Analyst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523036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1,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BRIEFING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Summary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General Hospital is facing severe operational strain across multiple service areas.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3317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12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</a:t>
            </a:r>
            <a:endParaRPr lang="en-US" sz="1612" dirty="0"/>
          </a:p>
        </p:txBody>
      </p:sp>
      <p:sp>
        <p:nvSpPr>
          <p:cNvPr id="7" name="Text 5"/>
          <p:cNvSpPr/>
          <p:nvPr/>
        </p:nvSpPr>
        <p:spPr>
          <a:xfrm>
            <a:off x="1371600" y="2258568"/>
            <a:ext cx="9875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overcrowding is increasing patient congestion and delaying care.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291840"/>
            <a:ext cx="566928" cy="5669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2918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12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BD</a:t>
            </a:r>
            <a:endParaRPr lang="en-US" sz="1612" dirty="0"/>
          </a:p>
        </p:txBody>
      </p:sp>
      <p:sp>
        <p:nvSpPr>
          <p:cNvPr id="10" name="Text 8"/>
          <p:cNvSpPr/>
          <p:nvPr/>
        </p:nvSpPr>
        <p:spPr>
          <a:xfrm>
            <a:off x="1371600" y="3218688"/>
            <a:ext cx="9875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 allocation is not matching patient demand, especially for older patients.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425196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2519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12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</a:t>
            </a:r>
            <a:endParaRPr lang="en-US" sz="1612" dirty="0"/>
          </a:p>
        </p:txBody>
      </p:sp>
      <p:sp>
        <p:nvSpPr>
          <p:cNvPr id="13" name="Text 11"/>
          <p:cNvSpPr/>
          <p:nvPr/>
        </p:nvSpPr>
        <p:spPr>
          <a:xfrm>
            <a:off x="1371600" y="4178808"/>
            <a:ext cx="9875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burnout and medication mismanagement are affecting service quality.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5212080"/>
            <a:ext cx="566928" cy="5669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52120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12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LB</a:t>
            </a:r>
            <a:endParaRPr lang="en-US" sz="1612" dirty="0"/>
          </a:p>
        </p:txBody>
      </p:sp>
      <p:sp>
        <p:nvSpPr>
          <p:cNvPr id="16" name="Text 14"/>
          <p:cNvSpPr/>
          <p:nvPr/>
        </p:nvSpPr>
        <p:spPr>
          <a:xfrm>
            <a:off x="1371600" y="5138928"/>
            <a:ext cx="9875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inefficiencies and financial losses are worsening overall performance.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 of the Analysis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CEDEB"/>
            </a:solidFill>
            <a:prstDash val="solid"/>
          </a:ln>
          <a:effectLst>
            <a:outerShdw sx="100000" sy="100000" kx="0" ky="0" algn="bl" rotWithShape="0" blurRad="76200" dist="25400" dir="5400000">
              <a:srgbClr val="1B4B4E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0594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059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508760" y="1600200"/>
            <a:ext cx="9829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root causes of ER congestion and resource waste.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633472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CEDEB"/>
            </a:solidFill>
            <a:prstDash val="solid"/>
          </a:ln>
          <a:effectLst>
            <a:outerShdw sx="100000" sy="100000" kx="0" ky="0" algn="bl" rotWithShape="0" blurRad="76200" dist="25400" dir="5400000">
              <a:srgbClr val="1B4B4E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2839212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8392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508760" y="2633472"/>
            <a:ext cx="9829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patient flow, workload, medication usage, lab efficiency, and financial data.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666744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CEDEB"/>
            </a:solidFill>
            <a:prstDash val="solid"/>
          </a:ln>
          <a:effectLst>
            <a:outerShdw sx="100000" sy="100000" kx="0" ky="0" algn="bl" rotWithShape="0" blurRad="76200" dist="25400" dir="5400000">
              <a:srgbClr val="1B4B4E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77240" y="3872484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8724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508760" y="3666744"/>
            <a:ext cx="9829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interactive Excel dashboard for board-level decision-making.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4700016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CEDEB"/>
            </a:solidFill>
            <a:prstDash val="solid"/>
          </a:ln>
          <a:effectLst>
            <a:outerShdw sx="100000" sy="100000" kx="0" ky="0" algn="bl" rotWithShape="0" blurRad="76200" dist="25400" dir="5400000">
              <a:srgbClr val="1B4B4E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77240" y="4905756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9057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508760" y="4700016"/>
            <a:ext cx="9829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operational patterns that require urgent intervention.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5733288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CEDEB"/>
            </a:solidFill>
            <a:prstDash val="solid"/>
          </a:ln>
          <a:effectLst>
            <a:outerShdw sx="100000" sy="100000" kx="0" ky="0" algn="bl" rotWithShape="0" blurRad="76200" dist="25400" dir="5400000">
              <a:srgbClr val="1B4B4E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77240" y="593902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9390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508760" y="5733288"/>
            <a:ext cx="9829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prioritized actions to stabilize hospital operations.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FOUNDATION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4937760" cy="4480560"/>
          </a:xfrm>
          <a:prstGeom prst="roundRect">
            <a:avLst>
              <a:gd name="adj" fmla="val 2041"/>
            </a:avLst>
          </a:prstGeom>
          <a:solidFill>
            <a:srgbClr val="042F33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8308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USED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" y="205740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Hospital Patient Records.xlsx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68680" y="288036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COLUMNS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3200400"/>
            <a:ext cx="42976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7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ID, age, gender, blood type, medical condition, admission date, discharge date, admission type, length of stay, doctor, hospital, insurance provider, billing amount, room number, medication, test results.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806440" y="1554480"/>
            <a:ext cx="580644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CEDEB"/>
            </a:solidFill>
            <a:prstDash val="solid"/>
          </a:ln>
          <a:effectLst>
            <a:outerShdw sx="100000" sy="100000" kx="0" ky="0" algn="bl" rotWithShape="0" blurRad="76200" dist="25400" dir="5400000">
              <a:srgbClr val="1B4B4E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080760" y="1810512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6080760" y="18105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720840" y="1783080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Cleaning Performed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720840" y="2130552"/>
            <a:ext cx="4617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data formatting, removal of duplicates, handling missing values, and review of inconsistent entries.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806440" y="3886200"/>
            <a:ext cx="580644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CEDEB"/>
            </a:solidFill>
            <a:prstDash val="solid"/>
          </a:ln>
          <a:effectLst>
            <a:outerShdw sx="100000" sy="100000" kx="0" ky="0" algn="bl" rotWithShape="0" blurRad="76200" dist="25400" dir="5400000">
              <a:srgbClr val="1B4B4E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80760" y="4142232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6080760" y="41422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720840" y="4114800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Transformation Performed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720840" y="4462272"/>
            <a:ext cx="4617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Grouping age ranges, calculating stay duration, and preparing fields for pivot analysis. The cleaned data supported dashboard charts, KPIs, and slicer-based filtering.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Metrics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8308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55,500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260604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Patients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19272" y="160020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3319272" y="178308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15.5 days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456432" y="260604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Length of Stay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89904" y="160020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6089904" y="178308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$1.42B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227064" y="260604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Billing Amount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860536" y="160020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8860536" y="178308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$25,539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997696" y="260604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Billing per Patient*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33649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*Calculated: Total Billing ÷ Total Patients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48640" y="3703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 Volume by Admission Type</a:t>
            </a:r>
            <a:endParaRPr lang="en-US" sz="150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457200" y="4023360"/>
          <a:ext cx="5577840" cy="2423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9" name="Text 16"/>
          <p:cNvSpPr/>
          <p:nvPr/>
        </p:nvSpPr>
        <p:spPr>
          <a:xfrm>
            <a:off x="6400800" y="4206240"/>
            <a:ext cx="52578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even three-way split — no single admission pathway is driving the strain alone.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ELEMENT — MONTHLY PATIENT 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 Admissions Have Risen Sharply Since 2019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691640"/>
          <a:ext cx="6583680" cy="4434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172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*2024 is a partial year (through May).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7406640" y="1764792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4"/>
          <p:cNvSpPr/>
          <p:nvPr/>
        </p:nvSpPr>
        <p:spPr>
          <a:xfrm>
            <a:off x="7680960" y="1600200"/>
            <a:ext cx="40233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admissions jumped from 7,387 in 2019 to over 11,000 every year from 2020 onward — a sustained ~50% increase in volume.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406640" y="2798064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6"/>
          <p:cNvSpPr/>
          <p:nvPr/>
        </p:nvSpPr>
        <p:spPr>
          <a:xfrm>
            <a:off x="7680960" y="2633472"/>
            <a:ext cx="40233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higher baseline demand is the backdrop for the ER overcrowding and congestion flagged in the problem summary.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406640" y="3831336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8"/>
          <p:cNvSpPr/>
          <p:nvPr/>
        </p:nvSpPr>
        <p:spPr>
          <a:xfrm>
            <a:off x="7680960" y="3666744"/>
            <a:ext cx="40233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has stayed consistently high (11,000+) for four straight years, not a one-time spike — this is a structural capacity issue, not a seasonal one.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406640" y="4864608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0"/>
          <p:cNvSpPr/>
          <p:nvPr/>
        </p:nvSpPr>
        <p:spPr>
          <a:xfrm>
            <a:off x="7680960" y="4700016"/>
            <a:ext cx="40233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is already on pace with prior years through May, suggesting no natural relief without intervention.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INSIGHT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 Demand Is Concentrated in a Few Hospitals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645920"/>
          <a:ext cx="60350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812280" y="1764792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3"/>
          <p:cNvSpPr/>
          <p:nvPr/>
        </p:nvSpPr>
        <p:spPr>
          <a:xfrm>
            <a:off x="7086600" y="1600200"/>
            <a:ext cx="45720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or two facilities are carrying a much larger share of admissions than others — the top 3 hospitals account for nearly 70% of all patients.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812280" y="2798064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5"/>
          <p:cNvSpPr/>
          <p:nvPr/>
        </p:nvSpPr>
        <p:spPr>
          <a:xfrm>
            <a:off x="7086600" y="2633472"/>
            <a:ext cx="45720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concentration increases bed occupancy, delays care, and strains frontline staff.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812280" y="3831336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7"/>
          <p:cNvSpPr/>
          <p:nvPr/>
        </p:nvSpPr>
        <p:spPr>
          <a:xfrm>
            <a:off x="7086600" y="3666744"/>
            <a:ext cx="45720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issue is not just total capacity; it is how demand is distributed across the system.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812280" y="4864608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9"/>
          <p:cNvSpPr/>
          <p:nvPr/>
        </p:nvSpPr>
        <p:spPr>
          <a:xfrm>
            <a:off x="7086600" y="4700016"/>
            <a:ext cx="45720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transfer or referral mechanism should be used to balance patient load.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INSIGHT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Older Adults Make Up the Largest Patient Group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691640"/>
          <a:ext cx="6675120" cy="4434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452360" y="1764792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3"/>
          <p:cNvSpPr/>
          <p:nvPr/>
        </p:nvSpPr>
        <p:spPr>
          <a:xfrm>
            <a:off x="7726680" y="1600200"/>
            <a:ext cx="3703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aged 50+ make up 53% of all admissions — the largest patient group.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7452360" y="2615184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5"/>
          <p:cNvSpPr/>
          <p:nvPr/>
        </p:nvSpPr>
        <p:spPr>
          <a:xfrm>
            <a:off x="7726680" y="2450592"/>
            <a:ext cx="3703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Older adults are more likely to require longer stays and more support services.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452360" y="3465576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7"/>
          <p:cNvSpPr/>
          <p:nvPr/>
        </p:nvSpPr>
        <p:spPr>
          <a:xfrm>
            <a:off x="7726680" y="3300984"/>
            <a:ext cx="3703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Geriatric-friendly beds and discharge planning should be prioritized.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452360" y="4315968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9"/>
          <p:cNvSpPr/>
          <p:nvPr/>
        </p:nvSpPr>
        <p:spPr>
          <a:xfrm>
            <a:off x="7726680" y="4151376"/>
            <a:ext cx="3703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discharges may be extending bed occupancy unnecessarily.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452360" y="5166360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1"/>
          <p:cNvSpPr/>
          <p:nvPr/>
        </p:nvSpPr>
        <p:spPr>
          <a:xfrm>
            <a:off x="7726680" y="5001768"/>
            <a:ext cx="3703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planning should reflect the real demand profile of the patient population.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INSIGHT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Accuracy and Medication Prescribing Concerns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Results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1874520"/>
          <a:ext cx="539496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989320" y="160020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Medication Usage (nearly even split)</a:t>
            </a:r>
            <a:endParaRPr lang="en-US" sz="14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5852160" y="1874520"/>
          <a:ext cx="576072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5239512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5"/>
          <p:cNvSpPr/>
          <p:nvPr/>
        </p:nvSpPr>
        <p:spPr>
          <a:xfrm>
            <a:off x="822960" y="5074920"/>
            <a:ext cx="107899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test results show too many inconclusive outcomes — 35% of all tests — pointing to weaknesses in sample collection, equipment, or procedures.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548640" y="5879592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7"/>
          <p:cNvSpPr/>
          <p:nvPr/>
        </p:nvSpPr>
        <p:spPr>
          <a:xfrm>
            <a:off x="822960" y="5715000"/>
            <a:ext cx="107899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 most-used medications are prescribed almost equally (each ~20% of all prescriptions, 11,068–11,140 each), a near-uniform pattern that suggests prescribing is only weakly linked to individual diagnosis.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48640" y="6519672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9"/>
          <p:cNvSpPr/>
          <p:nvPr/>
        </p:nvSpPr>
        <p:spPr>
          <a:xfrm>
            <a:off x="822960" y="6355080"/>
            <a:ext cx="107899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Together, these point to poor prescribing decisions, procurement inefficiencies, and stock wastage, and support the need for tighter clinical and operational controls.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INSIGHT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Billing and Stay Length Are Both Stable by Admission Type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Avg. Billing per Patient</a:t>
            </a:r>
            <a:endParaRPr lang="en-US" sz="13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828800"/>
          <a:ext cx="548640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126480" y="1554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Avg. Length of Stay (days)</a:t>
            </a:r>
            <a:endParaRPr lang="en-US" sz="135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5943600" y="1828800"/>
          <a:ext cx="548640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/>
          <p:nvPr/>
        </p:nvSpPr>
        <p:spPr>
          <a:xfrm>
            <a:off x="548640" y="598932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appears relatively stable across hospitals and patient groups — within 1% of $25,500 per patient in every admission type — and length of stay is equally consistent (15.4–15.6 days). This suggests the financial problem is less about revenue collection and more about operating cost pressure: overcrowding, longer stays, and inefficient workflows likely drive the losses. The hospital should review cost per bed-day and other high-impact expenses, and track finance data alongside occupancy and length of stay for clearer interpretation.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ELEMENT — INSURANCE PERFORMANCE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Medicare Drives Nearly Half of All Billing Revenue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645920"/>
          <a:ext cx="576072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492240" y="1810512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3"/>
          <p:cNvSpPr/>
          <p:nvPr/>
        </p:nvSpPr>
        <p:spPr>
          <a:xfrm>
            <a:off x="6766560" y="164592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Medicare accounts for $707M of the $1.42B in total billing — nearly half (49.9%) of all revenue.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492240" y="2798064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5"/>
          <p:cNvSpPr/>
          <p:nvPr/>
        </p:nvSpPr>
        <p:spPr>
          <a:xfrm>
            <a:off x="6766560" y="2633472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UnitedHealthCare follows at 30.1% ($426M); Cigna and Aetna each contribute about 10% ($143M and $141M).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492240" y="3785616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7"/>
          <p:cNvSpPr/>
          <p:nvPr/>
        </p:nvSpPr>
        <p:spPr>
          <a:xfrm>
            <a:off x="6766560" y="3621024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concentration means Medicare reimbursement policy and processing speed have an outsized effect on hospital cash flow.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92240" y="4773168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9"/>
          <p:cNvSpPr/>
          <p:nvPr/>
        </p:nvSpPr>
        <p:spPr>
          <a:xfrm>
            <a:off x="6766560" y="4608576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Payer mix should be tracked alongside occupancy, length of stay, and operating cost — the same finance data discipline recommended for the billing analysis — to fully explain financial performance.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ELEMENT — DOCTOR WORKLOAD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Doctor Workload Tracking Is Currently Unreliable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600200"/>
          <a:ext cx="6675120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172200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Doctors by Patient Workload — dashboard-reported grand total: 218 patients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7360920" y="1764792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4"/>
          <p:cNvSpPr/>
          <p:nvPr/>
        </p:nvSpPr>
        <p:spPr>
          <a:xfrm>
            <a:off x="7635240" y="1600200"/>
            <a:ext cx="40690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dashboard's own "Top 10 Doctors" pivot totals just 218 patients — against 55,500 hospital-wide. Fewer than 1 in 250 patients are captured.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360920" y="2889504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6"/>
          <p:cNvSpPr/>
          <p:nvPr/>
        </p:nvSpPr>
        <p:spPr>
          <a:xfrm>
            <a:off x="7635240" y="2724912"/>
            <a:ext cx="40690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happens because the Doctor field stores names, not IDs: common names like "Michael Smith" or "John Smith" combine multiple different doctors into one bar.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7360920" y="4014216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8"/>
          <p:cNvSpPr/>
          <p:nvPr/>
        </p:nvSpPr>
        <p:spPr>
          <a:xfrm>
            <a:off x="7635240" y="3849624"/>
            <a:ext cx="40690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result, per-doctor workload and staffing needs cannot be reliably measured from this data today.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360920" y="5138928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0"/>
          <p:cNvSpPr/>
          <p:nvPr/>
        </p:nvSpPr>
        <p:spPr>
          <a:xfrm>
            <a:off x="7635240" y="4974336"/>
            <a:ext cx="40690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direct evidence for the recommendation to assign unique doctor IDs — and, until that happens, the staff burnout flagged in the problem summary cannot be traced back to specific doctors or departments.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 of Findings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73736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37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30" dirty="0"/>
          </a:p>
        </p:txBody>
      </p:sp>
      <p:sp>
        <p:nvSpPr>
          <p:cNvPr id="7" name="Text 5"/>
          <p:cNvSpPr/>
          <p:nvPr/>
        </p:nvSpPr>
        <p:spPr>
          <a:xfrm>
            <a:off x="1463040" y="1600200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volume has grown ~50% since 2019 and is unevenly distributed, concentrating pressure in specific hospitals.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51460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EAF5F3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65176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651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30" dirty="0"/>
          </a:p>
        </p:txBody>
      </p:sp>
      <p:sp>
        <p:nvSpPr>
          <p:cNvPr id="11" name="Text 9"/>
          <p:cNvSpPr/>
          <p:nvPr/>
        </p:nvSpPr>
        <p:spPr>
          <a:xfrm>
            <a:off x="1463040" y="2514600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Older adults form the largest share of admissions and require more intensive, longer care.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42900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" y="356616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566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30" dirty="0"/>
          </a:p>
        </p:txBody>
      </p:sp>
      <p:sp>
        <p:nvSpPr>
          <p:cNvPr id="15" name="Text 13"/>
          <p:cNvSpPr/>
          <p:nvPr/>
        </p:nvSpPr>
        <p:spPr>
          <a:xfrm>
            <a:off x="1463040" y="3429000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inefficiency and near-uniform medication use point to weak links between testing, prescribing, and diagnosis.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434340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EAF5F3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" y="448056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480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30" dirty="0"/>
          </a:p>
        </p:txBody>
      </p:sp>
      <p:sp>
        <p:nvSpPr>
          <p:cNvPr id="19" name="Text 17"/>
          <p:cNvSpPr/>
          <p:nvPr/>
        </p:nvSpPr>
        <p:spPr>
          <a:xfrm>
            <a:off x="1463040" y="4343400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and length of stay are both stable across admission types — the strain is operational, not revenue-driven.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525780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520" y="539496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5394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30" dirty="0"/>
          </a:p>
        </p:txBody>
      </p:sp>
      <p:sp>
        <p:nvSpPr>
          <p:cNvPr id="23" name="Text 21"/>
          <p:cNvSpPr/>
          <p:nvPr/>
        </p:nvSpPr>
        <p:spPr>
          <a:xfrm>
            <a:off x="1463040" y="5257800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Medicare drives half of all billing revenue, and doctor workload cannot yet be reliably measured due to name collisions.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FORWARD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1663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DCED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815084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150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71600" y="1655064"/>
            <a:ext cx="4160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Redistribute patients or expand capacity at high-volume hospitals.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624328"/>
            <a:ext cx="51663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DCED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2839212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8392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71600" y="2679192"/>
            <a:ext cx="4160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a referral or transfer pathway from overcrowded facilities to lower-volume hospitals.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648456"/>
            <a:ext cx="51663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DCED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386334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8633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71600" y="3703320"/>
            <a:ext cx="4160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 more geriatric-friendly beds and support services for older patients.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672584"/>
            <a:ext cx="51663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DCED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4887468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8874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71600" y="4727448"/>
            <a:ext cx="4160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laboratory processes, equipment, and sample handling to reduce inconclusive results.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172200" y="1600200"/>
            <a:ext cx="51663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DCED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55080" y="1815084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6355080" y="18150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995160" y="1655064"/>
            <a:ext cx="4160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medication prescribing more tightly to diagnosis and procurement.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172200" y="2624328"/>
            <a:ext cx="51663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DCED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55080" y="2839212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6" name="Text 24"/>
          <p:cNvSpPr/>
          <p:nvPr/>
        </p:nvSpPr>
        <p:spPr>
          <a:xfrm>
            <a:off x="6355080" y="28392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5160" y="2679192"/>
            <a:ext cx="4160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operating costs, especially cost per bed-day, to identify waste and leakage.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172200" y="3648456"/>
            <a:ext cx="51663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DCED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55080" y="386334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0" name="Text 28"/>
          <p:cNvSpPr/>
          <p:nvPr/>
        </p:nvSpPr>
        <p:spPr>
          <a:xfrm>
            <a:off x="6355080" y="38633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995160" y="3703320"/>
            <a:ext cx="4160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unique doctor IDs to improve workload tracking and staffing decisions.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4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286000"/>
            <a:ext cx="5486400" cy="5486400"/>
          </a:xfrm>
          <a:prstGeom prst="ellipse">
            <a:avLst/>
          </a:prstGeom>
          <a:solidFill>
            <a:srgbClr val="028090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3474720"/>
            <a:ext cx="5120640" cy="5120640"/>
          </a:xfrm>
          <a:prstGeom prst="ellipse">
            <a:avLst/>
          </a:prstGeom>
          <a:solidFill>
            <a:srgbClr val="00A896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288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2194560"/>
            <a:ext cx="10241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to the board for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time and consideration.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822960" y="3794760"/>
            <a:ext cx="1280160" cy="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023360"/>
            <a:ext cx="8961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CF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dashboard gives a clearer view of where the hospital is under strain. It highlights the areas causing congestion, waste, and avoidable cost.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22960" y="4892040"/>
            <a:ext cx="8961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this dashboard, we now know where the hospital is losing control — and how to fix it.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2026-09-03T10:28:11Z</dcterms:created>
  <dcterms:modified xsi:type="dcterms:W3CDTF">2026-09-03T10:28:11Z</dcterms:modified>
</cp:coreProperties>
</file>